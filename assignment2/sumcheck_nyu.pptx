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65" r:id="rId23"/>
    <p:sldId id="266" r:id="rId24"/>
    <p:sldId id="267" r:id="rId25"/>
    <p:sldId id="268" r:id="rId26"/>
    <p:sldId id="269" r:id="rId27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Montserrat Black"/>
      <p:bold r:id="rId19"/>
      <p:boldItalic r:id="rId20"/>
    </p:embeddedFont>
    <p:embeddedFont>
      <p:font typeface="Montserrat ExtraBold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MontserratBlack-boldItalic.fntdata"/><Relationship Id="rId11" Type="http://schemas.openxmlformats.org/officeDocument/2006/relationships/slide" Target="slides/slide6.xml"/><Relationship Id="rId22" Type="http://schemas.openxmlformats.org/officeDocument/2006/relationships/font" Target="fonts/MontserratExtraBold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Extra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Black-bold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8" name="Google Shape;2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1" name="Google Shape;31;p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" name="Google Shape;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38" name="Google Shape;38;p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42" name="Google Shape;4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48" name="Google Shape;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54" name="Google Shape;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60" name="Google Shape;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64" name="Google Shape;64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1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8" name="Google Shape;6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4" name="Google Shape;74;p12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75" name="Google Shape;75;p12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1" name="Google Shape;81;p13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2" name="Google Shape;82;p13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5" name="Google Shape;8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b="0" i="0" sz="42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07599" y="649110"/>
            <a:ext cx="6475586" cy="337299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5800">
                <a:latin typeface="Calibri"/>
                <a:ea typeface="Calibri"/>
                <a:cs typeface="Calibri"/>
                <a:sym typeface="Calibri"/>
              </a:rPr>
              <a:t>Identifying Key Prognostic Factors in Gallbladder Cancer</a:t>
            </a:r>
            <a:endParaRPr b="1" sz="5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307599" y="4022100"/>
            <a:ext cx="4829665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400">
                <a:latin typeface="Calibri"/>
                <a:ea typeface="Calibri"/>
                <a:cs typeface="Calibri"/>
                <a:sym typeface="Calibri"/>
              </a:rPr>
              <a:t>PRESENTED BY YUTONG WANG &amp; MINGYU JIA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400">
                <a:latin typeface="Calibri"/>
                <a:ea typeface="Calibri"/>
                <a:cs typeface="Calibri"/>
                <a:sym typeface="Calibri"/>
              </a:rPr>
              <a:t>05/02/2025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699" y="426408"/>
            <a:ext cx="8441603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BACKGROUND &amp; INTRODUCTION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699" y="897869"/>
            <a:ext cx="8441602" cy="39068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800">
                <a:solidFill>
                  <a:srgbClr val="57068C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 xml:space="preserve">Gallbladder cancer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is a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rare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 but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aggressive malignancy of the biliary tract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, often diagnosed at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 xml:space="preserve">late stages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with a poor prognosis.</a:t>
            </a:r>
            <a:endParaRPr/>
          </a:p>
          <a:p>
            <a:pPr indent="0" lvl="0" marL="152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</a:pPr>
            <a:r>
              <a:rPr b="1" lang="en-US" sz="1800">
                <a:solidFill>
                  <a:srgbClr val="57068C"/>
                </a:solidFill>
                <a:latin typeface="Calibri"/>
                <a:ea typeface="Calibri"/>
                <a:cs typeface="Calibri"/>
                <a:sym typeface="Calibri"/>
              </a:rPr>
              <a:t>Key Questions</a:t>
            </a:r>
            <a:endParaRPr/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lphaLcPeriod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What are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 xml:space="preserve">the key factors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that determine the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 xml:space="preserve">survival outcomes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of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gallbladder cancer patients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lphaLcPeriod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Do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 xml:space="preserve">parametric models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and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 xml:space="preserve">non-parametric models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identify the same predictors?</a:t>
            </a:r>
            <a:endParaRPr/>
          </a:p>
          <a:p>
            <a:pPr indent="-438150" lvl="0" marL="51435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</a:pPr>
            <a:r>
              <a:rPr b="1" lang="en-US" sz="1800">
                <a:solidFill>
                  <a:srgbClr val="57068C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  <a:p>
            <a:pPr indent="-342900" lvl="0" marL="4953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Arial"/>
              <a:buAutoNum type="alphaLcPeriod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 xml:space="preserve">High mortality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→ need for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early identification</a:t>
            </a:r>
            <a:endParaRPr/>
          </a:p>
          <a:p>
            <a:pPr indent="-342900" lvl="0" marL="4953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Arial"/>
              <a:buAutoNum type="alphaLcPeriod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Model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interpretability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 and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performance comparis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 xml:space="preserve">on are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clinically valuable</a:t>
            </a:r>
            <a:endParaRPr/>
          </a:p>
          <a:p>
            <a:pPr indent="0" lvl="0" marL="152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None/>
            </a:pPr>
            <a:r>
              <a:t/>
            </a:r>
            <a:endParaRPr b="1" i="0" sz="1600" u="none" cap="none" strike="noStrike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None/>
            </a:pPr>
            <a:r>
              <a:t/>
            </a:r>
            <a:endParaRPr b="1" i="0" sz="2000" u="none" cap="none" strike="noStrike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None/>
            </a:pPr>
            <a:r>
              <a:t/>
            </a:r>
            <a:endParaRPr b="1" sz="1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152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None/>
            </a:pPr>
            <a:r>
              <a:t/>
            </a:r>
            <a:endParaRPr b="1" sz="1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None/>
            </a:pPr>
            <a:r>
              <a:t/>
            </a:r>
            <a:endParaRPr b="1" i="0" sz="1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>
            <a:off x="418229" y="2012625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4663450" y="683822"/>
            <a:ext cx="41688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>
              <a:solidFill>
                <a:schemeClr val="dk2"/>
              </a:solidFill>
            </a:endParaRPr>
          </a:p>
          <a:p>
            <a:pPr indent="-22860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lphaLcPeriod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80% training, 20% testing</a:t>
            </a:r>
            <a:endParaRPr>
              <a:solidFill>
                <a:schemeClr val="dk2"/>
              </a:solidFill>
            </a:endParaRPr>
          </a:p>
          <a:p>
            <a:pPr indent="-22860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lphaLcPeriod"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 xml:space="preserve">Stratified by </a:t>
            </a:r>
            <a:r>
              <a:rPr b="1"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outcome (Alive vs Deceased)</a:t>
            </a:r>
            <a:endParaRPr b="1" sz="1600">
              <a:solidFill>
                <a:srgbClr val="5706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706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600">
                <a:solidFill>
                  <a:srgbClr val="57068C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/>
          </a:p>
          <a:p>
            <a:pPr indent="-228600" lvl="0" marL="3810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lphaL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 xml:space="preserve">Parametric: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 xml:space="preserve">,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Lasso Regression</a:t>
            </a:r>
            <a:endParaRPr/>
          </a:p>
          <a:p>
            <a:pPr indent="-228600" lvl="0" marL="3810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lphaL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 xml:space="preserve">Non-parametric: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Decision Tree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 xml:space="preserve">,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  <a:p>
            <a:pPr indent="-152400" lvl="0" marL="3810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935674" y="1754931"/>
            <a:ext cx="3727766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</a:pPr>
            <a:r>
              <a:rPr b="1" lang="en-US" sz="1600">
                <a:solidFill>
                  <a:srgbClr val="57068C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  <a:p>
            <a:pPr indent="-342900" lvl="0" marL="4953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Arial"/>
              <a:buAutoNum type="alphaL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 xml:space="preserve">Converted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categorical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 xml:space="preserve"> variables to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factors</a:t>
            </a:r>
            <a:endParaRPr/>
          </a:p>
          <a:p>
            <a:pPr indent="-342900" lvl="0" marL="4953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Arial"/>
              <a:buAutoNum type="alphaLcPeriod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Standardized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 xml:space="preserve"> numeric variables (e.g., Age, BMI, Tumor Size, Biomarkers)</a:t>
            </a:r>
            <a:endParaRPr/>
          </a:p>
          <a:p>
            <a:pPr indent="-342900" lvl="0" marL="4953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Arial"/>
              <a:buAutoNum type="alphaL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 xml:space="preserve">Removed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Patient_ID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52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METHODS COMPARION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FURTHER ANALYSIS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18229" y="2118383"/>
            <a:ext cx="34665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Today, that trailblazing spirit makes NYU one of the most prominent and respected research universities in the world, featuring top-ranked academic programs and accepting fewer than one-in-five undergraduates.</a:t>
            </a:r>
            <a:endParaRPr/>
          </a:p>
        </p:txBody>
      </p:sp>
      <p:pic>
        <p:nvPicPr>
          <p:cNvPr descr="Street in New York City lined with towering skyscrapers." id="129" name="Google Shape;129;p22"/>
          <p:cNvPicPr preferRelativeResize="0"/>
          <p:nvPr/>
        </p:nvPicPr>
        <p:blipFill rotWithShape="1">
          <a:blip r:embed="rId3">
            <a:alphaModFix/>
          </a:blip>
          <a:srcRect b="1916" l="0" r="0" t="23216"/>
          <a:stretch/>
        </p:blipFill>
        <p:spPr>
          <a:xfrm>
            <a:off x="4572000" y="0"/>
            <a:ext cx="4572001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2"/>
          <p:cNvCxnSpPr/>
          <p:nvPr/>
        </p:nvCxnSpPr>
        <p:spPr>
          <a:xfrm>
            <a:off x="418229" y="2012625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22"/>
          <p:cNvCxnSpPr/>
          <p:nvPr/>
        </p:nvCxnSpPr>
        <p:spPr>
          <a:xfrm>
            <a:off x="4572004" y="0"/>
            <a:ext cx="0" cy="518820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1009686" y="1684594"/>
            <a:ext cx="6947400" cy="31451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7200">
                <a:latin typeface="Calibri"/>
                <a:ea typeface="Calibri"/>
                <a:cs typeface="Calibri"/>
                <a:sym typeface="Calibri"/>
              </a:rPr>
              <a:t>THANKS!</a:t>
            </a:r>
            <a:br>
              <a:rPr b="1" lang="en-US" sz="7200">
                <a:latin typeface="Calibri"/>
                <a:ea typeface="Calibri"/>
                <a:cs typeface="Calibri"/>
                <a:sym typeface="Calibri"/>
              </a:rPr>
            </a:br>
            <a:br>
              <a:rPr lang="en-US"/>
            </a:br>
            <a:r>
              <a:rPr lang="en-US"/>
              <a:t>Q&amp;A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placeholder" id="141" name="Google Shape;1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200" y="1462959"/>
            <a:ext cx="1583602" cy="1583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placeholder" id="142" name="Google Shape;1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5300" y="1462959"/>
            <a:ext cx="1583602" cy="15836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SLIDE WITH LIST ITEMS</a:t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733650" y="3185100"/>
            <a:ext cx="2297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First Item</a:t>
            </a:r>
            <a:endParaRPr b="0" i="0" sz="1200" u="none" cap="none" strike="noStrike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New York University has grown into one of the nation's leading institutions of higher ed</a:t>
            </a:r>
            <a:endParaRPr b="0" i="0" sz="10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375450" y="3185100"/>
            <a:ext cx="2297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Second Item</a:t>
            </a:r>
            <a:endParaRPr b="0" i="0" sz="1200" u="none" cap="none" strike="noStrike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New York University has grown into one of the nation's leading institutions of higher ed</a:t>
            </a:r>
            <a:endParaRPr b="0" i="0" sz="10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6017250" y="3185100"/>
            <a:ext cx="2297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Third Item</a:t>
            </a:r>
            <a:endParaRPr b="0" i="0" sz="1200" u="none" cap="none" strike="noStrike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New York University has grown into one of the nation's leading institutions of higher ed</a:t>
            </a:r>
            <a:endParaRPr b="0" i="0" sz="10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 placeholder" id="147" name="Google Shape;1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800" y="1462959"/>
            <a:ext cx="1583602" cy="158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311699" y="426408"/>
            <a:ext cx="8441603" cy="10593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91425" bIns="91425" wrap="square">
            <a:norm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7068C"/>
                </a:solidFill>
                <a:latin typeface="Calibri"/>
              </a:rPr>
              <a:t>WHAT I OPTIMIZED</a:t>
            </a:r>
          </a:p>
        </p:txBody>
      </p:sp>
      <p:cxnSp>
        <p:nvCxnSpPr>
          <p:cNvPr id="3" name="Line"/>
          <p:cNvCxnSpPr/>
          <p:nvPr/>
        </p:nvCxnSpPr>
        <p:spPr>
          <a:xfrm>
            <a:off x="311699" y="1562100"/>
            <a:ext cx="8441603" cy="0"/>
          </a:xfrm>
          <a:prstGeom prst="straightConnector1">
            <a:avLst/>
          </a:prstGeom>
          <a:noFill/>
          <a:ln cap="flat" w="57150">
            <a:solidFill>
              <a:srgbClr val="57068C"/>
            </a:solidFill>
            <a:prstDash val="solid"/>
          </a:ln>
        </p:spPr>
      </p:cxnSp>
      <p:sp>
        <p:nvSpPr>
          <p:cNvPr id="4" name="StmtBg"/>
          <p:cNvSpPr/>
          <p:nvPr/>
        </p:nvSpPr>
        <p:spPr>
          <a:xfrm>
            <a:off x="311699" y="1685000"/>
            <a:ext cx="8441603" cy="40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tmtTxt"/>
          <p:cNvSpPr txBox="1"/>
          <p:nvPr/>
        </p:nvSpPr>
        <p:spPr>
          <a:xfrm>
            <a:off x="311699" y="1685000"/>
            <a:ext cx="8441603" cy="40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</a:rPr>
              <a:t>Same SumCheck protocol — cleaner required 32-bit execution path</a:t>
            </a:r>
          </a:p>
        </p:txBody>
      </p:sp>
      <p:sp>
        <p:nvSpPr>
          <p:cNvPr id="6" name="B1bg"/>
          <p:cNvSpPr/>
          <p:nvPr/>
        </p:nvSpPr>
        <p:spPr>
          <a:xfrm>
            <a:off x="311699" y="2210000"/>
            <a:ext cx="4000000" cy="1050000"/>
          </a:xfrm>
          <a:prstGeom prst="rect">
            <a:avLst/>
          </a:prstGeom>
          <a:solidFill>
            <a:srgbClr val="F3F0F7"/>
          </a:solidFill>
          <a:ln w="19050">
            <a:solidFill>
              <a:srgbClr val="C5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B1hd"/>
          <p:cNvSpPr/>
          <p:nvPr/>
        </p:nvSpPr>
        <p:spPr>
          <a:xfrm>
            <a:off x="311699" y="2210000"/>
            <a:ext cx="4000000" cy="24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B1ht"/>
          <p:cNvSpPr txBox="1"/>
          <p:nvPr/>
        </p:nvSpPr>
        <p:spPr>
          <a:xfrm>
            <a:off x="311699" y="2210000"/>
            <a:ext cx="4000000" cy="2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</a:rPr>
              <a:t>uint32 add / sub</a:t>
            </a:r>
          </a:p>
        </p:txBody>
      </p:sp>
      <p:sp>
        <p:nvSpPr>
          <p:cNvPr id="9" name="B1tx"/>
          <p:cNvSpPr txBox="1"/>
          <p:nvPr/>
        </p:nvSpPr>
        <p:spPr>
          <a:xfrm>
            <a:off x="361699" y="2480000"/>
            <a:ext cx="3900000" cy="75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>
                <a:solidFill>
                  <a:srgbClr val="333333"/>
                </a:solidFill>
                <a:latin typeface="Calibri"/>
              </a:rPr>
              <a:t>No widening to uint64. Overflow handled by explicit wraparound correction, which XLA can inline directly.</a:t>
            </a:r>
          </a:p>
        </p:txBody>
      </p:sp>
      <p:sp>
        <p:nvSpPr>
          <p:cNvPr id="10" name="B2bg"/>
          <p:cNvSpPr/>
          <p:nvPr/>
        </p:nvSpPr>
        <p:spPr>
          <a:xfrm>
            <a:off x="4550000" y="2210000"/>
            <a:ext cx="4200000" cy="1050000"/>
          </a:xfrm>
          <a:prstGeom prst="rect">
            <a:avLst/>
          </a:prstGeom>
          <a:solidFill>
            <a:srgbClr val="F3F0F7"/>
          </a:solidFill>
          <a:ln w="19050">
            <a:solidFill>
              <a:srgbClr val="C5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B2hd"/>
          <p:cNvSpPr/>
          <p:nvPr/>
        </p:nvSpPr>
        <p:spPr>
          <a:xfrm>
            <a:off x="4550000" y="2210000"/>
            <a:ext cx="4200000" cy="24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2ht"/>
          <p:cNvSpPr txBox="1"/>
          <p:nvPr/>
        </p:nvSpPr>
        <p:spPr>
          <a:xfrm>
            <a:off x="4550000" y="2210000"/>
            <a:ext cx="4200000" cy="2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</a:rPr>
              <a:t>uint64 for multiplication only</a:t>
            </a:r>
          </a:p>
        </p:txBody>
      </p:sp>
      <p:sp>
        <p:nvSpPr>
          <p:cNvPr id="13" name="B2tx"/>
          <p:cNvSpPr txBox="1"/>
          <p:nvPr/>
        </p:nvSpPr>
        <p:spPr>
          <a:xfrm>
            <a:off x="4600000" y="2480000"/>
            <a:ext cx="4100000" cy="75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>
                <a:solidFill>
                  <a:srgbClr val="333333"/>
                </a:solidFill>
                <a:latin typeface="Calibri"/>
              </a:rPr>
              <a:t>32×32 needs 64 bits to hold the product. Only mod_mul_32 widens; add/sub stay in uint32.</a:t>
            </a:r>
          </a:p>
        </p:txBody>
      </p:sp>
      <p:sp>
        <p:nvSpPr>
          <p:cNvPr id="14" name="B3bg"/>
          <p:cNvSpPr/>
          <p:nvPr/>
        </p:nvSpPr>
        <p:spPr>
          <a:xfrm>
            <a:off x="311699" y="3380000"/>
            <a:ext cx="4000000" cy="1050000"/>
          </a:xfrm>
          <a:prstGeom prst="rect">
            <a:avLst/>
          </a:prstGeom>
          <a:solidFill>
            <a:srgbClr val="F3F0F7"/>
          </a:solidFill>
          <a:ln w="19050">
            <a:solidFill>
              <a:srgbClr val="C5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B3hd"/>
          <p:cNvSpPr/>
          <p:nvPr/>
        </p:nvSpPr>
        <p:spPr>
          <a:xfrm>
            <a:off x="311699" y="3380000"/>
            <a:ext cx="4000000" cy="24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B3ht"/>
          <p:cNvSpPr txBox="1"/>
          <p:nvPr/>
        </p:nvSpPr>
        <p:spPr>
          <a:xfrm>
            <a:off x="311699" y="3380000"/>
            <a:ext cx="4000000" cy="2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</a:rPr>
              <a:t>Filter tables to expression variables</a:t>
            </a:r>
          </a:p>
        </p:txBody>
      </p:sp>
      <p:sp>
        <p:nvSpPr>
          <p:cNvPr id="17" name="B3tx"/>
          <p:cNvSpPr txBox="1"/>
          <p:nvPr/>
        </p:nvSpPr>
        <p:spPr>
          <a:xfrm>
            <a:off x="361699" y="3650000"/>
            <a:ext cx="3900000" cy="75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>
                <a:solidFill>
                  <a:srgbClr val="333333"/>
                </a:solidFill>
                <a:latin typeface="Calibri"/>
              </a:rPr>
              <a:t>Only carry tables for variables used in the expression. Skips unused variables at every SumCheck round.</a:t>
            </a:r>
          </a:p>
        </p:txBody>
      </p:sp>
      <p:sp>
        <p:nvSpPr>
          <p:cNvPr id="18" name="B4bg"/>
          <p:cNvSpPr/>
          <p:nvPr/>
        </p:nvSpPr>
        <p:spPr>
          <a:xfrm>
            <a:off x="4550000" y="3380000"/>
            <a:ext cx="4200000" cy="1050000"/>
          </a:xfrm>
          <a:prstGeom prst="rect">
            <a:avLst/>
          </a:prstGeom>
          <a:solidFill>
            <a:srgbClr val="F3F0F7"/>
          </a:solidFill>
          <a:ln w="19050">
            <a:solidFill>
              <a:srgbClr val="C5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B4hd"/>
          <p:cNvSpPr/>
          <p:nvPr/>
        </p:nvSpPr>
        <p:spPr>
          <a:xfrm>
            <a:off x="4550000" y="3380000"/>
            <a:ext cx="4200000" cy="24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B4ht"/>
          <p:cNvSpPr txBox="1"/>
          <p:nvPr/>
        </p:nvSpPr>
        <p:spPr>
          <a:xfrm>
            <a:off x="4550000" y="3380000"/>
            <a:ext cx="4200000" cy="2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</a:rPr>
              <a:t>Avoid redundant zero accumulation</a:t>
            </a:r>
          </a:p>
        </p:txBody>
      </p:sp>
      <p:sp>
        <p:nvSpPr>
          <p:cNvPr id="21" name="B4tx"/>
          <p:cNvSpPr txBox="1"/>
          <p:nvPr/>
        </p:nvSpPr>
        <p:spPr>
          <a:xfrm>
            <a:off x="4600000" y="3650000"/>
            <a:ext cx="4100000" cy="75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00">
                <a:solidFill>
                  <a:srgbClr val="333333"/>
                </a:solidFill>
                <a:latin typeface="Calibri"/>
              </a:rPr>
              <a:t>Start accumulation from first term (result=None), not jnp.zeros(). Avoids one redundant modular add.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311699" y="426408"/>
            <a:ext cx="8441603" cy="10593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91425" bIns="91425" wrap="square">
            <a:norm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7068C"/>
                </a:solidFill>
                <a:latin typeface="Calibri"/>
              </a:rPr>
              <a:t>ARITHMETIC HOT PATH</a:t>
            </a:r>
          </a:p>
        </p:txBody>
      </p:sp>
      <p:cxnSp>
        <p:nvCxnSpPr>
          <p:cNvPr id="3" name="Line"/>
          <p:cNvCxnSpPr/>
          <p:nvPr/>
        </p:nvCxnSpPr>
        <p:spPr>
          <a:xfrm>
            <a:off x="311699" y="1562100"/>
            <a:ext cx="8441603" cy="0"/>
          </a:xfrm>
          <a:prstGeom prst="straightConnector1">
            <a:avLst/>
          </a:prstGeom>
          <a:noFill/>
          <a:ln cap="flat" w="57150">
            <a:solidFill>
              <a:srgbClr val="57068C"/>
            </a:solidFill>
            <a:prstDash val="solid"/>
          </a:ln>
        </p:spPr>
      </p:cxnSp>
      <p:sp>
        <p:nvSpPr>
          <p:cNvPr id="4" name="Sub"/>
          <p:cNvSpPr txBox="1"/>
          <p:nvPr/>
        </p:nvSpPr>
        <p:spPr>
          <a:xfrm>
            <a:off x="311699" y="1620000"/>
            <a:ext cx="8441603" cy="280000"/>
          </a:xfrm>
          <a:prstGeom prst="rect">
            <a:avLst/>
          </a:prstGeom>
          <a:noFill/>
          <a:ln>
            <a:noFill/>
          </a:ln>
        </p:spPr>
        <p:txBody>
          <a:bodyPr anchor="ctr" lIns="91425" rIns="91425" tIns="30000" bIns="30000" wrap="square">
            <a:noAutofit/>
          </a:bodyPr>
          <a:lstStyle/>
          <a:p>
            <a:pPr algn="l">
              <a:buNone/>
            </a:pPr>
            <a:r>
              <a:rPr lang="en-US" sz="1200" i="1">
                <a:solidFill>
                  <a:srgbClr val="555555"/>
                </a:solidFill>
                <a:latin typeface="Calibri"/>
              </a:rPr>
              <a:t>mod_add_32 and mod_sub_32 are called in every MLE update, term accumulation, and round polynomial evaluation</a:t>
            </a:r>
          </a:p>
        </p:txBody>
      </p:sp>
      <p:sp>
        <p:nvSpPr>
          <p:cNvPr id="5" name="LBg"/>
          <p:cNvSpPr/>
          <p:nvPr/>
        </p:nvSpPr>
        <p:spPr>
          <a:xfrm>
            <a:off x="311699" y="1950000"/>
            <a:ext cx="4150000" cy="27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LHd"/>
          <p:cNvSpPr/>
          <p:nvPr/>
        </p:nvSpPr>
        <p:spPr>
          <a:xfrm>
            <a:off x="311699" y="1950000"/>
            <a:ext cx="4150000" cy="280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LHt"/>
          <p:cNvSpPr txBox="1"/>
          <p:nvPr/>
        </p:nvSpPr>
        <p:spPr>
          <a:xfrm>
            <a:off x="311699" y="1950000"/>
            <a:ext cx="4150000" cy="28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</a:rPr>
              <a:t xml:space="preserve">  Teammate — uint64 widening</a:t>
            </a:r>
          </a:p>
        </p:txBody>
      </p:sp>
      <p:sp>
        <p:nvSpPr>
          <p:cNvPr id="8" name="LCode"/>
          <p:cNvSpPr txBox="1"/>
          <p:nvPr/>
        </p:nvSpPr>
        <p:spPr>
          <a:xfrm>
            <a:off x="361699" y="2270000"/>
            <a:ext cx="4000000" cy="234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ourier New"/>
              </a:rPr>
              <a:t>def mod_add_32(a, b, q):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CC4400"/>
                </a:solidFill>
                <a:latin typeface="Courier New"/>
              </a:rPr>
              <a:t xml:space="preserve">  a64 = jnp.asarray(a, uint64)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CC4400"/>
                </a:solidFill>
                <a:latin typeface="Courier New"/>
              </a:rPr>
              <a:t xml:space="preserve">  b64 = jnp.asarray(b, uint64)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CC4400"/>
                </a:solidFill>
                <a:latin typeface="Courier New"/>
              </a:rPr>
              <a:t xml:space="preserve">  q64 = jnp.asarray(q, uint64)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ourier New"/>
              </a:rPr>
              <a:t xml:space="preserve">  s = a64 + b64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ourier New"/>
              </a:rPr>
              <a:t xml:space="preserve">  return jnp.where(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ourier New"/>
              </a:rPr>
              <a:t xml:space="preserve">    s &gt;= q64, s - q64, s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CC4400"/>
                </a:solidFill>
                <a:latin typeface="Courier New"/>
              </a:rPr>
              <a:t xml:space="preserve">  ).astype(jnp.uint32)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900">
                <a:solidFill>
                  <a:srgbClr val="888888"/>
                </a:solidFill>
                <a:latin typeface="Courier New"/>
              </a:rPr>
              <a:t/>
            </a:r>
          </a:p>
          <a:p>
            <a:pPr algn="l">
              <a:lnSpc>
                <a:spcPct val="118000"/>
              </a:lnSpc>
              <a:buNone/>
            </a:pPr>
            <a:r>
              <a:rPr lang="en-US" sz="900">
                <a:solidFill>
                  <a:srgbClr val="CC4400"/>
                </a:solidFill>
                <a:latin typeface="Calibri"/>
              </a:rPr>
              <a:t>3 casts per call: u32→u64→u64→u32</a:t>
            </a:r>
          </a:p>
        </p:txBody>
      </p:sp>
      <p:sp>
        <p:nvSpPr>
          <p:cNvPr id="9" name="RBg"/>
          <p:cNvSpPr/>
          <p:nvPr/>
        </p:nvSpPr>
        <p:spPr>
          <a:xfrm>
            <a:off x="4690000" y="1950000"/>
            <a:ext cx="4200000" cy="2700000"/>
          </a:xfrm>
          <a:prstGeom prst="rect">
            <a:avLst/>
          </a:prstGeom>
          <a:solidFill>
            <a:srgbClr val="F3F0F7"/>
          </a:solidFill>
          <a:ln w="19050">
            <a:solidFill>
              <a:srgbClr val="C5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Hd"/>
          <p:cNvSpPr/>
          <p:nvPr/>
        </p:nvSpPr>
        <p:spPr>
          <a:xfrm>
            <a:off x="4690000" y="1950000"/>
            <a:ext cx="4200000" cy="28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Ht"/>
          <p:cNvSpPr txBox="1"/>
          <p:nvPr/>
        </p:nvSpPr>
        <p:spPr>
          <a:xfrm>
            <a:off x="4690000" y="1950000"/>
            <a:ext cx="4200000" cy="28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</a:rPr>
              <a:t xml:space="preserve">  Mine — uint32 only</a:t>
            </a:r>
          </a:p>
        </p:txBody>
      </p:sp>
      <p:sp>
        <p:nvSpPr>
          <p:cNvPr id="12" name="RCode"/>
          <p:cNvSpPr txBox="1"/>
          <p:nvPr/>
        </p:nvSpPr>
        <p:spPr>
          <a:xfrm>
            <a:off x="4740000" y="2270000"/>
            <a:ext cx="4050000" cy="234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ourier New"/>
              </a:rPr>
              <a:t>def mod_add_32(a, b, q):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006600"/>
                </a:solidFill>
                <a:latin typeface="Courier New"/>
              </a:rPr>
              <a:t xml:space="preserve">  s = a + b  # uint32 wraps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006600"/>
                </a:solidFill>
                <a:latin typeface="Courier New"/>
              </a:rPr>
              <a:t xml:space="preserve">  wrapped = s &lt; a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006600"/>
                </a:solidFill>
                <a:latin typeface="Courier New"/>
              </a:rPr>
              <a:t xml:space="preserve">  s = jnp.where(wrapped,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006600"/>
                </a:solidFill>
                <a:latin typeface="Courier New"/>
              </a:rPr>
              <a:t xml:space="preserve">    s + pow2_32_mod_q, s)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ourier New"/>
              </a:rPr>
              <a:t xml:space="preserve">  return jnp.where(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ourier New"/>
              </a:rPr>
              <a:t xml:space="preserve">    s &gt;= q, s - q, s)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900">
                <a:solidFill>
                  <a:srgbClr val="888888"/>
                </a:solidFill>
                <a:latin typeface="Courier New"/>
              </a:rPr>
              <a:t/>
            </a:r>
          </a:p>
          <a:p>
            <a:pPr algn="l">
              <a:lnSpc>
                <a:spcPct val="118000"/>
              </a:lnSpc>
              <a:buNone/>
            </a:pPr>
            <a:r>
              <a:rPr lang="en-US" sz="900">
                <a:solidFill>
                  <a:srgbClr val="006600"/>
                </a:solidFill>
                <a:latin typeface="Calibri"/>
              </a:rPr>
              <a:t>0 casts: stays in uint32 throughout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311699" y="4710000"/>
            <a:ext cx="8521900" cy="300000"/>
          </a:xfrm>
          <a:prstGeom prst="rect">
            <a:avLst/>
          </a:prstGeom>
          <a:noFill/>
          <a:ln>
            <a:noFill/>
          </a:ln>
        </p:spPr>
        <p:txBody>
          <a:bodyPr anchor="ctr" lIns="91425" rIns="91425" tIns="30000" bIns="30000" wrap="square">
            <a:noAutofit/>
          </a:bodyPr>
          <a:lstStyle/>
          <a:p>
            <a:pPr algn="l">
              <a:buNone/>
            </a:pPr>
            <a:r>
              <a:rPr lang="en-US" sz="1000">
                <a:solidFill>
                  <a:srgbClr val="777777"/>
                </a:solidFill>
                <a:latin typeface="Calibri"/>
              </a:rPr>
              <a:t>Fewer casts per call → smaller XLA graph → lower compile overhead. The SumCheck result and correctness are unchanged.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311699" y="426408"/>
            <a:ext cx="8441603" cy="10593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91425" bIns="91425" wrap="square">
            <a:norm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7068C"/>
                </a:solidFill>
                <a:latin typeface="Calibri"/>
              </a:rPr>
              <a:t>DATAFLOW CLEANUP</a:t>
            </a:r>
          </a:p>
        </p:txBody>
      </p:sp>
      <p:cxnSp>
        <p:nvCxnSpPr>
          <p:cNvPr id="3" name="Line"/>
          <p:cNvCxnSpPr/>
          <p:nvPr/>
        </p:nvCxnSpPr>
        <p:spPr>
          <a:xfrm>
            <a:off x="311699" y="1562100"/>
            <a:ext cx="8441603" cy="0"/>
          </a:xfrm>
          <a:prstGeom prst="straightConnector1">
            <a:avLst/>
          </a:prstGeom>
          <a:noFill/>
          <a:ln cap="flat" w="57150">
            <a:solidFill>
              <a:srgbClr val="57068C"/>
            </a:solidFill>
            <a:prstDash val="solid"/>
          </a:ln>
        </p:spPr>
      </p:cxnSp>
      <p:sp>
        <p:nvSpPr>
          <p:cNvPr id="4" name="S1Bg"/>
          <p:cNvSpPr/>
          <p:nvPr/>
        </p:nvSpPr>
        <p:spPr>
          <a:xfrm>
            <a:off x="311699" y="1680000"/>
            <a:ext cx="4150000" cy="3000000"/>
          </a:xfrm>
          <a:prstGeom prst="rect">
            <a:avLst/>
          </a:prstGeom>
          <a:solidFill>
            <a:srgbClr val="F3F0F7"/>
          </a:solidFill>
          <a:ln w="19050">
            <a:solidFill>
              <a:srgbClr val="C5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1Hd"/>
          <p:cNvSpPr/>
          <p:nvPr/>
        </p:nvSpPr>
        <p:spPr>
          <a:xfrm>
            <a:off x="311699" y="1680000"/>
            <a:ext cx="4150000" cy="26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1Ht"/>
          <p:cNvSpPr txBox="1"/>
          <p:nvPr/>
        </p:nvSpPr>
        <p:spPr>
          <a:xfrm>
            <a:off x="311699" y="1680000"/>
            <a:ext cx="4150000" cy="26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</a:rPr>
              <a:t>1 — Table Filtering</a:t>
            </a:r>
          </a:p>
        </p:txBody>
      </p:sp>
      <p:sp>
        <p:nvSpPr>
          <p:cNvPr id="7" name="S1Desc"/>
          <p:cNvSpPr txBox="1"/>
          <p:nvPr/>
        </p:nvSpPr>
        <p:spPr>
          <a:xfrm>
            <a:off x="361699" y="197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50">
                <a:solidFill>
                  <a:srgbClr val="333333"/>
                </a:solidFill>
                <a:latin typeface="Calibri"/>
              </a:rPr>
              <a:t>Only carry the tables for variables actually used in the current expression:</a:t>
            </a:r>
          </a:p>
        </p:txBody>
      </p:sp>
      <p:sp>
        <p:nvSpPr>
          <p:cNvPr id="8" name="S1Code"/>
          <p:cNvSpPr/>
          <p:nvPr/>
        </p:nvSpPr>
        <p:spPr>
          <a:xfrm>
            <a:off x="361699" y="2500000"/>
            <a:ext cx="4000000" cy="26000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S1CodeTxt"/>
          <p:cNvSpPr txBox="1"/>
          <p:nvPr/>
        </p:nvSpPr>
        <p:spPr>
          <a:xfrm>
            <a:off x="361699" y="250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anchor="ctr" lIns="114300" rIns="91425" tIns="30000" bIns="30000" wrap="square">
            <a:noAutofit/>
          </a:bodyPr>
          <a:lstStyle/>
          <a:p>
            <a:pPr algn="l">
              <a:buNone/>
            </a:pPr>
            <a:r>
              <a:rPr lang="en-US" sz="1000">
                <a:solidFill>
                  <a:srgbClr val="333333"/>
                </a:solidFill>
                <a:latin typeface="Courier New"/>
              </a:rPr>
              <a:t>used = set(f for term in expr for f in term)</a:t>
            </a:r>
          </a:p>
        </p:txBody>
      </p:sp>
      <p:sp>
        <p:nvSpPr>
          <p:cNvPr id="10" name="S1Ex"/>
          <p:cNvSpPr txBox="1"/>
          <p:nvPr/>
        </p:nvSpPr>
        <p:spPr>
          <a:xfrm>
            <a:off x="361699" y="2820000"/>
            <a:ext cx="4050000" cy="82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100">
                <a:solidFill>
                  <a:srgbClr val="57068C"/>
                </a:solidFill>
                <a:latin typeface="Calibri"/>
              </a:rPr>
              <a:t>expr = a:</a:t>
            </a:r>
            <a:r>
              <a:rPr lang="en-US" sz="1100">
                <a:solidFill>
                  <a:srgbClr val="444444"/>
                </a:solidFill>
                <a:latin typeface="Calibri"/>
              </a:rPr>
              <a:t xml:space="preserve">  carry only table[a]</a:t>
            </a:r>
          </a:p>
          <a:p>
            <a:pPr algn="l">
              <a:lnSpc>
                <a:spcPct val="130000"/>
              </a:lnSpc>
              <a:buNone/>
            </a:pPr>
            <a:r>
              <a:rPr lang="en-US" sz="1100">
                <a:solidFill>
                  <a:srgbClr val="57068C"/>
                </a:solidFill>
                <a:latin typeface="Calibri"/>
              </a:rPr>
              <a:t>expr = a×b:</a:t>
            </a:r>
            <a:r>
              <a:rPr lang="en-US" sz="1100">
                <a:solidFill>
                  <a:srgbClr val="444444"/>
                </a:solidFill>
                <a:latin typeface="Calibri"/>
              </a:rPr>
              <a:t xml:space="preserve">  carry table[a], table[b]</a:t>
            </a:r>
          </a:p>
          <a:p>
            <a:pPr algn="l">
              <a:lnSpc>
                <a:spcPct val="130000"/>
              </a:lnSpc>
              <a:buNone/>
            </a:pPr>
            <a:r>
              <a:rPr lang="en-US" sz="1100">
                <a:solidFill>
                  <a:srgbClr val="888888"/>
                </a:solidFill>
                <a:latin typeface="Calibri"/>
              </a:rPr>
              <a:t>skip all other tables at every round</a:t>
            </a:r>
          </a:p>
        </p:txBody>
      </p:sp>
      <p:sp>
        <p:nvSpPr>
          <p:cNvPr id="11" name="S2Bg"/>
          <p:cNvSpPr/>
          <p:nvPr/>
        </p:nvSpPr>
        <p:spPr>
          <a:xfrm>
            <a:off x="4690000" y="1680000"/>
            <a:ext cx="4200000" cy="3000000"/>
          </a:xfrm>
          <a:prstGeom prst="rect">
            <a:avLst/>
          </a:prstGeom>
          <a:solidFill>
            <a:srgbClr val="F3F0F7"/>
          </a:solidFill>
          <a:ln w="19050">
            <a:solidFill>
              <a:srgbClr val="C5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2Hd"/>
          <p:cNvSpPr/>
          <p:nvPr/>
        </p:nvSpPr>
        <p:spPr>
          <a:xfrm>
            <a:off x="4690000" y="1680000"/>
            <a:ext cx="4200000" cy="26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S2Ht"/>
          <p:cNvSpPr txBox="1"/>
          <p:nvPr/>
        </p:nvSpPr>
        <p:spPr>
          <a:xfrm>
            <a:off x="4690000" y="168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</a:rPr>
              <a:t>2 — Accumulation Start</a:t>
            </a:r>
          </a:p>
        </p:txBody>
      </p:sp>
      <p:sp>
        <p:nvSpPr>
          <p:cNvPr id="14" name="S2Desc"/>
          <p:cNvSpPr txBox="1"/>
          <p:nvPr/>
        </p:nvSpPr>
        <p:spPr>
          <a:xfrm>
            <a:off x="4740000" y="1970000"/>
            <a:ext cx="4100000" cy="50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150">
                <a:solidFill>
                  <a:srgbClr val="333333"/>
                </a:solidFill>
                <a:latin typeface="Calibri"/>
              </a:rPr>
              <a:t>Start from first term (result=None), not from jnp.zeros():</a:t>
            </a:r>
          </a:p>
        </p:txBody>
      </p:sp>
      <p:sp>
        <p:nvSpPr>
          <p:cNvPr id="15" name="S2Lbl1"/>
          <p:cNvSpPr txBox="1"/>
          <p:nvPr/>
        </p:nvSpPr>
        <p:spPr>
          <a:xfrm>
            <a:off x="4740000" y="2490000"/>
            <a:ext cx="4100000" cy="220000"/>
          </a:xfrm>
          <a:prstGeom prst="rect">
            <a:avLst/>
          </a:prstGeom>
          <a:noFill/>
          <a:ln>
            <a:noFill/>
          </a:ln>
        </p:spPr>
        <p:txBody>
          <a:bodyPr anchor="ctr" lIns="91425" rIns="91425" tIns="30000" bIns="30000" wrap="square">
            <a:noAutofit/>
          </a:bodyPr>
          <a:lstStyle/>
          <a:p>
            <a:pPr algn="l">
              <a:buNone/>
            </a:pPr>
            <a:r>
              <a:rPr b="1" lang="en-US" sz="1000">
                <a:solidFill>
                  <a:srgbClr val="CC4400"/>
                </a:solidFill>
                <a:latin typeface="Calibri"/>
              </a:rPr>
              <a:t>Teammate:</a:t>
            </a:r>
          </a:p>
        </p:txBody>
      </p:sp>
      <p:sp>
        <p:nvSpPr>
          <p:cNvPr id="16" name="S2CodeA"/>
          <p:cNvSpPr/>
          <p:nvPr/>
        </p:nvSpPr>
        <p:spPr>
          <a:xfrm>
            <a:off x="4740000" y="2720000"/>
            <a:ext cx="4100000" cy="2600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S2CodeATxt"/>
          <p:cNvSpPr txBox="1"/>
          <p:nvPr/>
        </p:nvSpPr>
        <p:spPr>
          <a:xfrm>
            <a:off x="4740000" y="2720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anchor="ctr" lIns="114300" rIns="91425" tIns="30000" bIns="30000" wrap="square">
            <a:noAutofit/>
          </a:bodyPr>
          <a:lstStyle/>
          <a:p>
            <a:pPr algn="l">
              <a:buNone/>
            </a:pPr>
            <a:r>
              <a:rPr lang="en-US" sz="1000">
                <a:solidFill>
                  <a:srgbClr val="CC4400"/>
                </a:solidFill>
                <a:latin typeface="Courier New"/>
              </a:rPr>
              <a:t>result = jnp.zeros(shape, uint32)</a:t>
            </a:r>
          </a:p>
        </p:txBody>
      </p:sp>
      <p:sp>
        <p:nvSpPr>
          <p:cNvPr id="18" name="S2Lbl2"/>
          <p:cNvSpPr txBox="1"/>
          <p:nvPr/>
        </p:nvSpPr>
        <p:spPr>
          <a:xfrm>
            <a:off x="4740000" y="3050000"/>
            <a:ext cx="4100000" cy="220000"/>
          </a:xfrm>
          <a:prstGeom prst="rect">
            <a:avLst/>
          </a:prstGeom>
          <a:noFill/>
          <a:ln>
            <a:noFill/>
          </a:ln>
        </p:spPr>
        <p:txBody>
          <a:bodyPr anchor="ctr" lIns="91425" rIns="91425" tIns="30000" bIns="30000" wrap="square">
            <a:noAutofit/>
          </a:bodyPr>
          <a:lstStyle/>
          <a:p>
            <a:pPr algn="l">
              <a:buNone/>
            </a:pPr>
            <a:r>
              <a:rPr b="1" lang="en-US" sz="1000">
                <a:solidFill>
                  <a:srgbClr val="006600"/>
                </a:solidFill>
                <a:latin typeface="Calibri"/>
              </a:rPr>
              <a:t>Mine:</a:t>
            </a:r>
          </a:p>
        </p:txBody>
      </p:sp>
      <p:sp>
        <p:nvSpPr>
          <p:cNvPr id="19" name="S2CodeB"/>
          <p:cNvSpPr/>
          <p:nvPr/>
        </p:nvSpPr>
        <p:spPr>
          <a:xfrm>
            <a:off x="4740000" y="3280000"/>
            <a:ext cx="4100000" cy="26000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S2CodeBTxt"/>
          <p:cNvSpPr txBox="1"/>
          <p:nvPr/>
        </p:nvSpPr>
        <p:spPr>
          <a:xfrm>
            <a:off x="4740000" y="3280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anchor="ctr" lIns="114300" rIns="91425" tIns="30000" bIns="30000" wrap="square">
            <a:noAutofit/>
          </a:bodyPr>
          <a:lstStyle/>
          <a:p>
            <a:pPr algn="l">
              <a:buNone/>
            </a:pPr>
            <a:r>
              <a:rPr lang="en-US" sz="1000">
                <a:solidFill>
                  <a:srgbClr val="006600"/>
                </a:solidFill>
                <a:latin typeface="Courier New"/>
              </a:rPr>
              <a:t>result = None  # set on first term</a:t>
            </a:r>
          </a:p>
        </p:txBody>
      </p:sp>
      <p:sp>
        <p:nvSpPr>
          <p:cNvPr id="21" name="S2Note"/>
          <p:cNvSpPr txBox="1"/>
          <p:nvPr/>
        </p:nvSpPr>
        <p:spPr>
          <a:xfrm>
            <a:off x="4740000" y="3600000"/>
            <a:ext cx="4100000" cy="3600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60960" bIns="60960" wrap="square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alibri"/>
              </a:rPr>
              <a:t>First term assigned directly. Saves one modular add per expression evaluation.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311699" y="426408"/>
            <a:ext cx="8441603" cy="10593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91425" bIns="91425" wrap="square">
            <a:norm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7068C"/>
                </a:solidFill>
                <a:latin typeface="Calibri"/>
              </a:rPr>
              <a:t>COMPILE TIME: MY IMPL vs. TEAMMATE</a:t>
            </a:r>
          </a:p>
        </p:txBody>
      </p:sp>
      <p:cxnSp>
        <p:nvCxnSpPr>
          <p:cNvPr id="3" name="Line"/>
          <p:cNvCxnSpPr/>
          <p:nvPr/>
        </p:nvCxnSpPr>
        <p:spPr>
          <a:xfrm>
            <a:off x="311699" y="1562100"/>
            <a:ext cx="8441603" cy="0"/>
          </a:xfrm>
          <a:prstGeom prst="straightConnector1">
            <a:avLst/>
          </a:prstGeom>
          <a:noFill/>
          <a:ln cap="flat" w="57150">
            <a:solidFill>
              <a:srgbClr val="57068C"/>
            </a:solidFill>
            <a:prstDash val="solid"/>
          </a:ln>
        </p:spPr>
      </p:cxnSp>
      <p:sp>
        <p:nvSpPr>
          <p:cNvPr id="4" name="Note"/>
          <p:cNvSpPr txBox="1"/>
          <p:nvPr/>
        </p:nvSpPr>
        <p:spPr>
          <a:xfrm>
            <a:off x="311699" y="1620000"/>
            <a:ext cx="8441603" cy="260000"/>
          </a:xfrm>
          <a:prstGeom prst="rect">
            <a:avLst/>
          </a:prstGeom>
          <a:noFill/>
          <a:ln>
            <a:noFill/>
          </a:ln>
        </p:spPr>
        <p:txBody>
          <a:bodyPr anchor="ctr" lIns="91425" rIns="91425" tIns="30000" bIns="30000" wrap="square">
            <a:noAutofit/>
          </a:bodyPr>
          <a:lstStyle/>
          <a:p>
            <a:pPr algn="l">
              <a:buNone/>
            </a:pPr>
            <a:r>
              <a:rPr lang="en-US" sz="1100" i="1">
                <a:solidFill>
                  <a:srgbClr val="555555"/>
                </a:solidFill>
                <a:latin typeface="Calibri"/>
              </a:rPr>
              <a:t>vars=20, A100 GPU — 5 runs each, median reported. XLA JIT compile time (ms).</a:t>
            </a:r>
          </a:p>
        </p:txBody>
      </p:sp>
      <p:sp>
        <p:nvSpPr>
          <p:cNvPr id="5" name="THBg"/>
          <p:cNvSpPr/>
          <p:nvPr/>
        </p:nvSpPr>
        <p:spPr>
          <a:xfrm>
            <a:off x="311699" y="1930000"/>
            <a:ext cx="8441603" cy="31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HCol1"/>
          <p:cNvSpPr txBox="1"/>
          <p:nvPr/>
        </p:nvSpPr>
        <p:spPr>
          <a:xfrm>
            <a:off x="311699" y="1930000"/>
            <a:ext cx="2000000" cy="31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</a:rPr>
              <a:t>Expression</a:t>
            </a:r>
          </a:p>
        </p:txBody>
      </p:sp>
      <p:sp>
        <p:nvSpPr>
          <p:cNvPr id="7" name="THCol2"/>
          <p:cNvSpPr txBox="1"/>
          <p:nvPr/>
        </p:nvSpPr>
        <p:spPr>
          <a:xfrm>
            <a:off x="2311699" y="1930000"/>
            <a:ext cx="2100000" cy="31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</a:rPr>
              <a:t>Teammate (ms)</a:t>
            </a:r>
          </a:p>
        </p:txBody>
      </p:sp>
      <p:sp>
        <p:nvSpPr>
          <p:cNvPr id="8" name="THCol3"/>
          <p:cNvSpPr txBox="1"/>
          <p:nvPr/>
        </p:nvSpPr>
        <p:spPr>
          <a:xfrm>
            <a:off x="4411699" y="1930000"/>
            <a:ext cx="2100000" cy="31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</a:rPr>
              <a:t>Jack (ms)</a:t>
            </a:r>
          </a:p>
        </p:txBody>
      </p:sp>
      <p:sp>
        <p:nvSpPr>
          <p:cNvPr id="9" name="THCol4"/>
          <p:cNvSpPr txBox="1"/>
          <p:nvPr/>
        </p:nvSpPr>
        <p:spPr>
          <a:xfrm>
            <a:off x="6511699" y="1930000"/>
            <a:ext cx="2241603" cy="31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</a:rPr>
              <a:t>Improvement</a:t>
            </a:r>
          </a:p>
        </p:txBody>
      </p:sp>
      <p:sp>
        <p:nvSpPr>
          <p:cNvPr id="10" name="R1Bg"/>
          <p:cNvSpPr/>
          <p:nvPr/>
        </p:nvSpPr>
        <p:spPr>
          <a:xfrm>
            <a:off x="311699" y="2240000"/>
            <a:ext cx="8441603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1C1"/>
          <p:cNvSpPr txBox="1"/>
          <p:nvPr/>
        </p:nvSpPr>
        <p:spPr>
          <a:xfrm>
            <a:off x="311699" y="2240000"/>
            <a:ext cx="20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800">
                <a:solidFill>
                  <a:srgbClr val="57068C"/>
                </a:solidFill>
                <a:latin typeface="Courier New"/>
              </a:rPr>
              <a:t>a</a:t>
            </a:r>
          </a:p>
        </p:txBody>
      </p:sp>
      <p:sp>
        <p:nvSpPr>
          <p:cNvPr id="12" name="R1C2"/>
          <p:cNvSpPr txBox="1"/>
          <p:nvPr/>
        </p:nvSpPr>
        <p:spPr>
          <a:xfrm>
            <a:off x="2311699" y="2240000"/>
            <a:ext cx="21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222222"/>
                </a:solidFill>
                <a:latin typeface="Calibri"/>
              </a:rPr>
              <a:t>2457</a:t>
            </a:r>
          </a:p>
        </p:txBody>
      </p:sp>
      <p:sp>
        <p:nvSpPr>
          <p:cNvPr id="13" name="R1C3"/>
          <p:cNvSpPr txBox="1"/>
          <p:nvPr/>
        </p:nvSpPr>
        <p:spPr>
          <a:xfrm>
            <a:off x="4411699" y="2240000"/>
            <a:ext cx="21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222222"/>
                </a:solidFill>
                <a:latin typeface="Calibri"/>
              </a:rPr>
              <a:t>2173</a:t>
            </a:r>
          </a:p>
        </p:txBody>
      </p:sp>
      <p:sp>
        <p:nvSpPr>
          <p:cNvPr id="14" name="R1C4"/>
          <p:cNvSpPr txBox="1"/>
          <p:nvPr/>
        </p:nvSpPr>
        <p:spPr>
          <a:xfrm>
            <a:off x="6511699" y="2240000"/>
            <a:ext cx="2241603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400">
                <a:solidFill>
                  <a:srgbClr val="1B7A3E"/>
                </a:solidFill>
                <a:latin typeface="Calibri"/>
              </a:rPr>
              <a:t>−12%</a:t>
            </a:r>
          </a:p>
        </p:txBody>
      </p:sp>
      <p:sp>
        <p:nvSpPr>
          <p:cNvPr id="15" name="R2Bg"/>
          <p:cNvSpPr/>
          <p:nvPr/>
        </p:nvSpPr>
        <p:spPr>
          <a:xfrm>
            <a:off x="311699" y="2780000"/>
            <a:ext cx="8441603" cy="540000"/>
          </a:xfrm>
          <a:prstGeom prst="rect">
            <a:avLst/>
          </a:prstGeom>
          <a:solidFill>
            <a:srgbClr val="F8F4FC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2C1"/>
          <p:cNvSpPr txBox="1"/>
          <p:nvPr/>
        </p:nvSpPr>
        <p:spPr>
          <a:xfrm>
            <a:off x="311699" y="2780000"/>
            <a:ext cx="20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800">
                <a:solidFill>
                  <a:srgbClr val="57068C"/>
                </a:solidFill>
                <a:latin typeface="Courier New"/>
              </a:rPr>
              <a:t>a×b</a:t>
            </a:r>
          </a:p>
        </p:txBody>
      </p:sp>
      <p:sp>
        <p:nvSpPr>
          <p:cNvPr id="17" name="R2C2"/>
          <p:cNvSpPr txBox="1"/>
          <p:nvPr/>
        </p:nvSpPr>
        <p:spPr>
          <a:xfrm>
            <a:off x="2311699" y="2780000"/>
            <a:ext cx="21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222222"/>
                </a:solidFill>
                <a:latin typeface="Calibri"/>
              </a:rPr>
              <a:t>4604</a:t>
            </a:r>
          </a:p>
        </p:txBody>
      </p:sp>
      <p:sp>
        <p:nvSpPr>
          <p:cNvPr id="18" name="R2C3"/>
          <p:cNvSpPr txBox="1"/>
          <p:nvPr/>
        </p:nvSpPr>
        <p:spPr>
          <a:xfrm>
            <a:off x="4411699" y="2780000"/>
            <a:ext cx="21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222222"/>
                </a:solidFill>
                <a:latin typeface="Calibri"/>
              </a:rPr>
              <a:t>3941</a:t>
            </a:r>
          </a:p>
        </p:txBody>
      </p:sp>
      <p:sp>
        <p:nvSpPr>
          <p:cNvPr id="19" name="R2C4"/>
          <p:cNvSpPr txBox="1"/>
          <p:nvPr/>
        </p:nvSpPr>
        <p:spPr>
          <a:xfrm>
            <a:off x="6511699" y="2780000"/>
            <a:ext cx="2241603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400">
                <a:solidFill>
                  <a:srgbClr val="1B7A3E"/>
                </a:solidFill>
                <a:latin typeface="Calibri"/>
              </a:rPr>
              <a:t>−14%</a:t>
            </a:r>
          </a:p>
        </p:txBody>
      </p:sp>
      <p:sp>
        <p:nvSpPr>
          <p:cNvPr id="20" name="R3Bg"/>
          <p:cNvSpPr/>
          <p:nvPr/>
        </p:nvSpPr>
        <p:spPr>
          <a:xfrm>
            <a:off x="311699" y="3320000"/>
            <a:ext cx="8441603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3C1"/>
          <p:cNvSpPr txBox="1"/>
          <p:nvPr/>
        </p:nvSpPr>
        <p:spPr>
          <a:xfrm>
            <a:off x="311699" y="3320000"/>
            <a:ext cx="20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800">
                <a:solidFill>
                  <a:srgbClr val="57068C"/>
                </a:solidFill>
                <a:latin typeface="Courier New"/>
              </a:rPr>
              <a:t>a×b+c</a:t>
            </a:r>
          </a:p>
        </p:txBody>
      </p:sp>
      <p:sp>
        <p:nvSpPr>
          <p:cNvPr id="22" name="R3C2"/>
          <p:cNvSpPr txBox="1"/>
          <p:nvPr/>
        </p:nvSpPr>
        <p:spPr>
          <a:xfrm>
            <a:off x="2311699" y="3320000"/>
            <a:ext cx="21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222222"/>
                </a:solidFill>
                <a:latin typeface="Calibri"/>
              </a:rPr>
              <a:t>5312</a:t>
            </a:r>
          </a:p>
        </p:txBody>
      </p:sp>
      <p:sp>
        <p:nvSpPr>
          <p:cNvPr id="23" name="R3C3"/>
          <p:cNvSpPr txBox="1"/>
          <p:nvPr/>
        </p:nvSpPr>
        <p:spPr>
          <a:xfrm>
            <a:off x="4411699" y="3320000"/>
            <a:ext cx="21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222222"/>
                </a:solidFill>
                <a:latin typeface="Calibri"/>
              </a:rPr>
              <a:t>5059</a:t>
            </a:r>
          </a:p>
        </p:txBody>
      </p:sp>
      <p:sp>
        <p:nvSpPr>
          <p:cNvPr id="24" name="R3C4"/>
          <p:cNvSpPr txBox="1"/>
          <p:nvPr/>
        </p:nvSpPr>
        <p:spPr>
          <a:xfrm>
            <a:off x="6511699" y="3320000"/>
            <a:ext cx="2241603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400">
                <a:solidFill>
                  <a:srgbClr val="1B7A3E"/>
                </a:solidFill>
                <a:latin typeface="Calibri"/>
              </a:rPr>
              <a:t>−5%</a:t>
            </a:r>
          </a:p>
        </p:txBody>
      </p:sp>
      <p:sp>
        <p:nvSpPr>
          <p:cNvPr id="25" name="R4Bg"/>
          <p:cNvSpPr/>
          <p:nvPr/>
        </p:nvSpPr>
        <p:spPr>
          <a:xfrm>
            <a:off x="311699" y="3860000"/>
            <a:ext cx="8441603" cy="540000"/>
          </a:xfrm>
          <a:prstGeom prst="rect">
            <a:avLst/>
          </a:prstGeom>
          <a:solidFill>
            <a:srgbClr val="F8F4FC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R4C1"/>
          <p:cNvSpPr txBox="1"/>
          <p:nvPr/>
        </p:nvSpPr>
        <p:spPr>
          <a:xfrm>
            <a:off x="311699" y="3860000"/>
            <a:ext cx="20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800">
                <a:solidFill>
                  <a:srgbClr val="57068C"/>
                </a:solidFill>
                <a:latin typeface="Courier New"/>
              </a:rPr>
              <a:t>a×b×c</a:t>
            </a:r>
          </a:p>
        </p:txBody>
      </p:sp>
      <p:sp>
        <p:nvSpPr>
          <p:cNvPr id="27" name="R4C2"/>
          <p:cNvSpPr txBox="1"/>
          <p:nvPr/>
        </p:nvSpPr>
        <p:spPr>
          <a:xfrm>
            <a:off x="2311699" y="3860000"/>
            <a:ext cx="21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222222"/>
                </a:solidFill>
                <a:latin typeface="Calibri"/>
              </a:rPr>
              <a:t>7368</a:t>
            </a:r>
          </a:p>
        </p:txBody>
      </p:sp>
      <p:sp>
        <p:nvSpPr>
          <p:cNvPr id="28" name="R4C3"/>
          <p:cNvSpPr txBox="1"/>
          <p:nvPr/>
        </p:nvSpPr>
        <p:spPr>
          <a:xfrm>
            <a:off x="4411699" y="3860000"/>
            <a:ext cx="2100000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222222"/>
                </a:solidFill>
                <a:latin typeface="Calibri"/>
              </a:rPr>
              <a:t>6624</a:t>
            </a:r>
          </a:p>
        </p:txBody>
      </p:sp>
      <p:sp>
        <p:nvSpPr>
          <p:cNvPr id="29" name="R4C4"/>
          <p:cNvSpPr txBox="1"/>
          <p:nvPr/>
        </p:nvSpPr>
        <p:spPr>
          <a:xfrm>
            <a:off x="6511699" y="3860000"/>
            <a:ext cx="2241603" cy="54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400">
                <a:solidFill>
                  <a:srgbClr val="1B7A3E"/>
                </a:solidFill>
                <a:latin typeface="Calibri"/>
              </a:rPr>
              <a:t>−10%</a:t>
            </a:r>
          </a:p>
        </p:txBody>
      </p:sp>
      <p:sp>
        <p:nvSpPr>
          <p:cNvPr id="30" name="Foot"/>
          <p:cNvSpPr txBox="1"/>
          <p:nvPr/>
        </p:nvSpPr>
        <p:spPr>
          <a:xfrm>
            <a:off x="311699" y="4470000"/>
            <a:ext cx="8441603" cy="260000"/>
          </a:xfrm>
          <a:prstGeom prst="rect">
            <a:avLst/>
          </a:prstGeom>
          <a:noFill/>
          <a:ln>
            <a:noFill/>
          </a:ln>
        </p:spPr>
        <p:txBody>
          <a:bodyPr anchor="ctr" lIns="91425" rIns="91425" tIns="30000" bIns="30000" wrap="square">
            <a:noAutofit/>
          </a:bodyPr>
          <a:lstStyle/>
          <a:p>
            <a:pPr algn="l">
              <a:buNone/>
            </a:pPr>
            <a:r>
              <a:rPr lang="en-US" sz="1000">
                <a:solidFill>
                  <a:srgbClr val="777777"/>
                </a:solidFill>
                <a:latin typeface="Calibri"/>
              </a:rPr>
              <a:t>Largest gap at a×b (−14%): table filtering reduces graph from 6 variables to 2, yielding the highest relative node reduction.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311699" y="426408"/>
            <a:ext cx="8441603" cy="1059300"/>
          </a:xfrm>
          <a:prstGeom prst="rect">
            <a:avLst/>
          </a:prstGeom>
          <a:noFill/>
          <a:ln>
            <a:noFill/>
          </a:ln>
        </p:spPr>
        <p:txBody>
          <a:bodyPr anchor="t" lIns="91425" rIns="91425" tIns="91425" bIns="91425" wrap="square">
            <a:norm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7068C"/>
                </a:solidFill>
                <a:latin typeface="Calibri"/>
              </a:rPr>
              <a:t>TAKEAWAYS</a:t>
            </a:r>
          </a:p>
        </p:txBody>
      </p:sp>
      <p:cxnSp>
        <p:nvCxnSpPr>
          <p:cNvPr id="3" name="Line"/>
          <p:cNvCxnSpPr/>
          <p:nvPr/>
        </p:nvCxnSpPr>
        <p:spPr>
          <a:xfrm>
            <a:off x="311699" y="1562100"/>
            <a:ext cx="8441603" cy="0"/>
          </a:xfrm>
          <a:prstGeom prst="straightConnector1">
            <a:avLst/>
          </a:prstGeom>
          <a:noFill/>
          <a:ln cap="flat" w="57150">
            <a:solidFill>
              <a:srgbClr val="57068C"/>
            </a:solidFill>
            <a:prstDash val="solid"/>
          </a:ln>
        </p:spPr>
      </p:cxnSp>
      <p:sp>
        <p:nvSpPr>
          <p:cNvPr id="4" name="Summary"/>
          <p:cNvSpPr txBox="1"/>
          <p:nvPr/>
        </p:nvSpPr>
        <p:spPr>
          <a:xfrm>
            <a:off x="311699" y="1680000"/>
            <a:ext cx="8441603" cy="38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mmaryTxt"/>
          <p:cNvSpPr txBox="1"/>
          <p:nvPr/>
        </p:nvSpPr>
        <p:spPr>
          <a:xfrm>
            <a:off x="311699" y="1680000"/>
            <a:ext cx="8441603" cy="380000"/>
          </a:xfrm>
          <a:prstGeom prst="rect">
            <a:avLst/>
          </a:prstGeom>
          <a:noFill/>
          <a:ln>
            <a:noFill/>
          </a:ln>
        </p:spPr>
        <p:txBody>
          <a:bodyPr anchor="ctr" lIns="152400" rIns="91425" tIns="60960" bIns="60960" wrap="square">
            <a:noAutofit/>
          </a:bodyPr>
          <a:lstStyle/>
          <a:p>
            <a:pPr algn="l"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</a:rPr>
              <a:t>Same protocol, cleaner implementation: fewer casts, less unused dataflow, lower compile overhead</a:t>
            </a:r>
          </a:p>
        </p:txBody>
      </p:sp>
      <p:sp>
        <p:nvSpPr>
          <p:cNvPr id="6" name="Bullets"/>
          <p:cNvSpPr txBox="1"/>
          <p:nvPr>
            <p:ph type="body" idx="1"/>
          </p:nvPr>
        </p:nvSpPr>
        <p:spPr>
          <a:xfrm>
            <a:off x="311699" y="2140000"/>
            <a:ext cx="8441603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91425" rIns="91425" tIns="91425" bIns="91425" wrap="square">
            <a:noAutofit/>
          </a:bodyPr>
          <a:lstStyle/>
          <a:p>
            <a:pPr indent="-304800" marL="45720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57068C"/>
              </a:buClr>
              <a:buSzPts val="1400"/>
              <a:buChar char="●"/>
            </a:pPr>
            <a:r>
              <a:rPr b="1" lang="en-US" sz="1400">
                <a:solidFill>
                  <a:srgbClr val="57068C"/>
                </a:solidFill>
                <a:latin typeface="Calibri"/>
              </a:rPr>
              <a:t>Required path is 32-bit only.</a:t>
            </a:r>
            <a:r>
              <a:rPr lang="en-US" sz="1400">
                <a:solidFill>
                  <a:srgbClr val="333333"/>
                </a:solidFill>
                <a:latin typeface="Calibri"/>
              </a:rPr>
              <a:t xml:space="preserve">  vars=20 benchmark never calls 64-bit arithmetic.</a:t>
            </a:r>
          </a:p>
          <a:p>
            <a:pPr indent="-304800" marL="45720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57068C"/>
              </a:buClr>
              <a:buSzPts val="1400"/>
              <a:buChar char="●"/>
            </a:pPr>
            <a:r>
              <a:rPr b="1" lang="en-US" sz="1400">
                <a:solidFill>
                  <a:srgbClr val="57068C"/>
                </a:solidFill>
                <a:latin typeface="Calibri"/>
              </a:rPr>
              <a:t>Optimization targets the JAX/XLA graph shape,</a:t>
            </a:r>
            <a:r>
              <a:rPr lang="en-US" sz="1400">
                <a:solidFill>
                  <a:srgbClr val="333333"/>
                </a:solidFill>
                <a:latin typeface="Calibri"/>
              </a:rPr>
              <a:t xml:space="preserve">  not the SumCheck protocol or algorithm.</a:t>
            </a:r>
          </a:p>
          <a:p>
            <a:pPr indent="-304800" marL="45720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57068C"/>
              </a:buClr>
              <a:buSzPts val="1400"/>
              <a:buChar char="●"/>
            </a:pPr>
            <a:r>
              <a:rPr b="1" lang="en-US" sz="1400">
                <a:solidFill>
                  <a:srgbClr val="57068C"/>
                </a:solidFill>
                <a:latin typeface="Calibri"/>
              </a:rPr>
              <a:t>Compile overhead is lower</a:t>
            </a:r>
            <a:r>
              <a:rPr lang="en-US" sz="1400">
                <a:solidFill>
                  <a:srgbClr val="333333"/>
                </a:solidFill>
                <a:latin typeface="Calibri"/>
              </a:rPr>
              <a:t xml:space="preserve">  due to fewer uint32↔uint64 casts and smaller working tables.</a:t>
            </a:r>
          </a:p>
          <a:p>
            <a:pPr indent="-304800" marL="45720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57068C"/>
              </a:buClr>
              <a:buSzPts val="1400"/>
              <a:buChar char="●"/>
            </a:pPr>
            <a:r>
              <a:rPr b="1" lang="en-US" sz="1400">
                <a:solidFill>
                  <a:srgbClr val="57068C"/>
                </a:solidFill>
                <a:latin typeface="Calibri"/>
              </a:rPr>
              <a:t>Runtime is competitive.</a:t>
            </a:r>
            <a:r>
              <a:rPr lang="en-US" sz="1400">
                <a:solidFill>
                  <a:srgbClr val="333333"/>
                </a:solidFill>
                <a:latin typeface="Calibri"/>
              </a:rPr>
              <a:t xml:space="preserve">  At vars=20, memory bandwidth dominates — arithmetic differences wash out.</a:t>
            </a:r>
          </a:p>
          <a:p>
            <a:pPr indent="-30480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400"/>
              <a:buChar char="●"/>
            </a:pPr>
            <a:r>
              <a:rPr b="1" lang="en-US" sz="1400">
                <a:solidFill>
                  <a:srgbClr val="57068C"/>
                </a:solidFill>
                <a:latin typeface="Calibri"/>
              </a:rPr>
              <a:t>Expression structure drives runtime ordering:</a:t>
            </a:r>
            <a:r>
              <a:rPr lang="en-US" sz="1400">
                <a:solidFill>
                  <a:srgbClr val="333333"/>
                </a:solidFill>
                <a:latin typeface="Calibri"/>
              </a:rPr>
              <a:t xml:space="preserve">  a &lt; a×b &lt; a×b+c &lt; a×b×c.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